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1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73" r:id="rId12"/>
    <p:sldId id="274" r:id="rId13"/>
    <p:sldId id="263" r:id="rId14"/>
    <p:sldId id="264" r:id="rId15"/>
    <p:sldId id="265" r:id="rId16"/>
    <p:sldId id="267" r:id="rId17"/>
    <p:sldId id="268" r:id="rId18"/>
    <p:sldId id="270" r:id="rId19"/>
    <p:sldId id="272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CB14BC-50DE-7CE4-E02C-9C69F71A3D5A}" v="537" dt="2026-05-07T10:14:54.6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20223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FD5BD-F08D-E767-C52A-D77825492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59BAC-CDD2-0691-09BC-E465C7FD5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54A963-DBC8-C26A-FE0B-E82462683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642B88-653B-4270-B552-116908437C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1315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115BA-5C1E-2289-228B-CA3944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6BA5CC-1B87-3440-21BC-B2254297E6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E644F0-248B-4E64-94B7-166AB11D19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19F00-92E3-CF3C-6D14-F601DFA40A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912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8046720" y="0"/>
            <a:ext cx="1097280" cy="5143500"/>
          </a:xfrm>
          <a:prstGeom prst="rect">
            <a:avLst/>
          </a:prstGeom>
          <a:solidFill>
            <a:srgbClr val="1A5C3A">
              <a:alpha val="7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685800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97280"/>
            <a:ext cx="6217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EcoTroc</a:t>
            </a:r>
            <a:endParaRPr lang="en-US" sz="6000"/>
          </a:p>
        </p:txBody>
      </p:sp>
      <p:sp>
        <p:nvSpPr>
          <p:cNvPr id="6" name="Text 3"/>
          <p:cNvSpPr/>
          <p:nvPr/>
        </p:nvSpPr>
        <p:spPr>
          <a:xfrm>
            <a:off x="457200" y="24688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Échange tes objets entre étudiants du campus</a:t>
            </a:r>
            <a:endParaRPr lang="en-US" sz="1800"/>
          </a:p>
        </p:txBody>
      </p:sp>
      <p:sp>
        <p:nvSpPr>
          <p:cNvPr id="7" name="Shape 4"/>
          <p:cNvSpPr/>
          <p:nvPr/>
        </p:nvSpPr>
        <p:spPr>
          <a:xfrm>
            <a:off x="457200" y="3108960"/>
            <a:ext cx="3200400" cy="4572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457200" y="333756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A8D5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Julien Casamian · Eham Abouzi · Imrân Benessam · Dorian Anguille</a:t>
            </a:r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457200" y="374904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7FA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Numérique Durable · EFREI · Mai 2026</a:t>
            </a:r>
            <a:endParaRPr lang="en-US" sz="1100"/>
          </a:p>
        </p:txBody>
      </p:sp>
      <p:sp>
        <p:nvSpPr>
          <p:cNvPr id="10" name="Text 7"/>
          <p:cNvSpPr/>
          <p:nvPr/>
        </p:nvSpPr>
        <p:spPr>
          <a:xfrm>
            <a:off x="7223760" y="9144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>
                <a:solidFill>
                  <a:srgbClr val="000000"/>
                </a:solidFill>
              </a:rPr>
              <a:t>🌱</a:t>
            </a:r>
            <a:endParaRPr lang="en-US" sz="4800"/>
          </a:p>
        </p:txBody>
      </p:sp>
      <p:sp>
        <p:nvSpPr>
          <p:cNvPr id="11" name="Text 8"/>
          <p:cNvSpPr/>
          <p:nvPr/>
        </p:nvSpPr>
        <p:spPr>
          <a:xfrm>
            <a:off x="6949440" y="201168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eco-troc-cyan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.vercel.app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20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5720" cy="41148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Contexte &amp; Problème</a:t>
            </a:r>
            <a:endParaRPr lang="en-US" sz="1400"/>
          </a:p>
        </p:txBody>
      </p:sp>
      <p:sp>
        <p:nvSpPr>
          <p:cNvPr id="6" name="Shape 4"/>
          <p:cNvSpPr/>
          <p:nvPr/>
        </p:nvSpPr>
        <p:spPr>
          <a:xfrm>
            <a:off x="457200" y="1627632"/>
            <a:ext cx="45720" cy="41148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640080" y="162763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Le Projet EcoTroc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457200" y="2340864"/>
            <a:ext cx="45720" cy="41148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40080" y="234086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Conception</a:t>
            </a:r>
            <a:endParaRPr lang="en-US" sz="1400"/>
          </a:p>
        </p:txBody>
      </p:sp>
      <p:sp>
        <p:nvSpPr>
          <p:cNvPr id="10" name="Shape 8"/>
          <p:cNvSpPr/>
          <p:nvPr/>
        </p:nvSpPr>
        <p:spPr>
          <a:xfrm>
            <a:off x="457200" y="3054096"/>
            <a:ext cx="45720" cy="41148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0080" y="3054096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Choix Techniques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>
          <a:xfrm>
            <a:off x="457200" y="3767328"/>
            <a:ext cx="45720" cy="41148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40080" y="37673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Implémentation</a:t>
            </a:r>
            <a:endParaRPr lang="en-US" sz="1400"/>
          </a:p>
        </p:txBody>
      </p:sp>
      <p:sp>
        <p:nvSpPr>
          <p:cNvPr id="14" name="Shape 12"/>
          <p:cNvSpPr/>
          <p:nvPr/>
        </p:nvSpPr>
        <p:spPr>
          <a:xfrm>
            <a:off x="4754880" y="914400"/>
            <a:ext cx="45720" cy="41148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937760" y="9144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Empreinte Carbone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4754880" y="1627632"/>
            <a:ext cx="45720" cy="41148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937760" y="162763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Tests &amp; Validation</a:t>
            </a:r>
            <a:endParaRPr 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220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432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2743200" cy="50292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Celui qui donne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411480" y="15544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objets en bon état sans savoir à qui les donner.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la poubelle.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3200400" y="914400"/>
            <a:ext cx="27432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200400" y="914400"/>
            <a:ext cx="2743200" cy="50292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291840" y="960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Celui qui cherche</a:t>
            </a:r>
            <a:endParaRPr lang="en-US" sz="1300"/>
          </a:p>
        </p:txBody>
      </p:sp>
      <p:sp>
        <p:nvSpPr>
          <p:cNvPr id="11" name="Text 9"/>
          <p:cNvSpPr/>
          <p:nvPr/>
        </p:nvSpPr>
        <p:spPr>
          <a:xfrm>
            <a:off x="3337560" y="1554480"/>
            <a:ext cx="2468880" cy="1645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Achète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neuf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alors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qu'une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autre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personne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2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poss</a:t>
            </a:r>
            <a:r>
              <a:rPr lang="en-US" sz="1200" err="1">
                <a:solidFill>
                  <a:srgbClr val="1A1A1A"/>
                </a:solidFill>
                <a:ea typeface="Calibri"/>
                <a:cs typeface="Calibri"/>
              </a:rPr>
              <a:t>ède</a:t>
            </a:r>
            <a:r>
              <a:rPr lang="en-US" sz="1200">
                <a:solidFill>
                  <a:srgbClr val="1A1A1A"/>
                </a:solidFill>
                <a:ea typeface="Calibri"/>
                <a:cs typeface="Calibri"/>
              </a:rPr>
              <a:t> </a:t>
            </a:r>
            <a:r>
              <a:rPr lang="en-US" sz="1200" err="1">
                <a:solidFill>
                  <a:srgbClr val="1A1A1A"/>
                </a:solidFill>
                <a:ea typeface="Calibri"/>
                <a:cs typeface="Calibri"/>
              </a:rPr>
              <a:t>l'objet</a:t>
            </a:r>
            <a:r>
              <a:rPr lang="en-US" sz="1200">
                <a:solidFill>
                  <a:srgbClr val="1A1A1A"/>
                </a:solidFill>
                <a:ea typeface="Calibri"/>
                <a:cs typeface="Calibri"/>
              </a:rPr>
              <a:t> et </a:t>
            </a:r>
            <a:r>
              <a:rPr lang="en-US" sz="1200" err="1">
                <a:solidFill>
                  <a:srgbClr val="1A1A1A"/>
                </a:solidFill>
                <a:ea typeface="Calibri"/>
                <a:cs typeface="Calibri"/>
              </a:rPr>
              <a:t>n'en</a:t>
            </a:r>
            <a:r>
              <a:rPr lang="en-US" sz="1200">
                <a:solidFill>
                  <a:srgbClr val="1A1A1A"/>
                </a:solidFill>
                <a:ea typeface="Calibri"/>
                <a:cs typeface="Calibri"/>
              </a:rPr>
              <a:t> a plus besoin</a:t>
            </a:r>
          </a:p>
        </p:txBody>
      </p:sp>
      <p:sp>
        <p:nvSpPr>
          <p:cNvPr id="12" name="Shape 10"/>
          <p:cNvSpPr/>
          <p:nvPr/>
        </p:nvSpPr>
        <p:spPr>
          <a:xfrm>
            <a:off x="6126480" y="914400"/>
            <a:ext cx="27432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126480" y="914400"/>
            <a:ext cx="2743200" cy="50292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217920" y="960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plateformes existantes</a:t>
            </a:r>
            <a:endParaRPr lang="en-US" sz="1300"/>
          </a:p>
        </p:txBody>
      </p:sp>
      <p:sp>
        <p:nvSpPr>
          <p:cNvPr id="15" name="Text 13"/>
          <p:cNvSpPr/>
          <p:nvPr/>
        </p:nvSpPr>
        <p:spPr>
          <a:xfrm>
            <a:off x="6263640" y="155448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Vinted, Leboncoin : trop générales, centrées sur l'argent, chargées de tracking.</a:t>
            </a:r>
            <a:endParaRPr lang="en-US" sz="1200"/>
          </a:p>
        </p:txBody>
      </p:sp>
      <p:sp>
        <p:nvSpPr>
          <p:cNvPr id="16" name="Shape 14"/>
          <p:cNvSpPr/>
          <p:nvPr/>
        </p:nvSpPr>
        <p:spPr>
          <a:xfrm>
            <a:off x="274320" y="4023360"/>
            <a:ext cx="8595360" cy="777240"/>
          </a:xfrm>
          <a:prstGeom prst="rect">
            <a:avLst/>
          </a:prstGeom>
          <a:solidFill>
            <a:srgbClr val="D8F3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82296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NOTRE SOLUTION → </a:t>
            </a:r>
            <a:r>
              <a:rPr lang="en-US" sz="1300" b="1" err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EcoTroc</a:t>
            </a:r>
            <a:r>
              <a:rPr lang="en-US" sz="1300" b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 : </a:t>
            </a:r>
            <a:r>
              <a:rPr lang="en-US" sz="1300" b="1" err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troc</a:t>
            </a:r>
            <a:r>
              <a:rPr lang="en-US" sz="1300" b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00" b="1" err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d'objets</a:t>
            </a:r>
            <a:r>
              <a:rPr lang="en-US" sz="1300" b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  + </a:t>
            </a:r>
            <a:r>
              <a:rPr lang="en-US" sz="1300" b="1" err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système</a:t>
            </a:r>
            <a:r>
              <a:rPr lang="en-US" sz="1300" b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 de points. Green IT first.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Proposition</a:t>
            </a:r>
            <a:endParaRPr lang="en-US" sz="220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54864" cy="82296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402336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Pour </a:t>
            </a:r>
            <a:r>
              <a:rPr lang="en-US" sz="1300" b="1" err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l'utilisateur</a:t>
            </a:r>
            <a:r>
              <a:rPr lang="en-US" sz="1300" b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 qui </a:t>
            </a:r>
            <a:r>
              <a:rPr lang="en-US" sz="1300" b="1" err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donne</a:t>
            </a:r>
            <a:endParaRPr lang="en-US" sz="1300" err="1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234440"/>
            <a:ext cx="4023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Déposer une annonce de troc ou contre points, sans gérer de transaction financière.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54864" cy="82296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402336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Pour </a:t>
            </a:r>
            <a:r>
              <a:rPr lang="en-US" sz="1300" b="1" err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l'utilisateur</a:t>
            </a:r>
            <a:r>
              <a:rPr lang="en-US" sz="1300" b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 qui </a:t>
            </a:r>
            <a:r>
              <a:rPr lang="en-US" sz="1300" b="1" err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récupère</a:t>
            </a:r>
            <a:endParaRPr lang="en-US" sz="1300" err="1">
              <a:latin typeface="Calibri"/>
              <a:ea typeface="Calibri"/>
              <a:cs typeface="Calibri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4023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 en quelques clics un objet proposé gratuitement ou contre points par un camarade.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365760" y="3337560"/>
            <a:ext cx="54864" cy="822960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48640" y="33375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planète</a:t>
            </a:r>
            <a:endParaRPr lang="en-US" sz="1300"/>
          </a:p>
        </p:txBody>
      </p:sp>
      <p:sp>
        <p:nvSpPr>
          <p:cNvPr id="12" name="Text 10"/>
          <p:cNvSpPr/>
          <p:nvPr/>
        </p:nvSpPr>
        <p:spPr>
          <a:xfrm>
            <a:off x="548640" y="3703320"/>
            <a:ext cx="4023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déchets, moins d'achats neufs. Un site &lt; 100 Ko/page, Lighthouse 100.</a:t>
            </a:r>
            <a:endParaRPr lang="en-US" sz="120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693886"/>
              </p:ext>
            </p:extLst>
          </p:nvPr>
        </p:nvGraphicFramePr>
        <p:xfrm>
          <a:off x="4846320" y="914400"/>
          <a:ext cx="4023360" cy="22860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Poids</a:t>
                      </a:r>
                      <a:endParaRPr lang="en-US" sz="1200" dirty="0" err="1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EcoIndex</a:t>
                      </a:r>
                      <a:endParaRPr lang="en-US" sz="1200" dirty="0" err="1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CO₂/</a:t>
                      </a:r>
                      <a:r>
                        <a:rPr lang="en-US" sz="12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visite</a:t>
                      </a:r>
                      <a:endParaRPr lang="en-US" sz="1200" dirty="0" err="1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 err="1">
                          <a:solidFill>
                            <a:srgbClr val="1B4332"/>
                          </a:solidFill>
                          <a:latin typeface="Calibri"/>
                          <a:ea typeface="Calibri"/>
                          <a:cs typeface="Calibri"/>
                        </a:rPr>
                        <a:t>EcoTroc</a:t>
                      </a:r>
                      <a:r>
                        <a:rPr lang="en-US" sz="1200" b="1" dirty="0">
                          <a:solidFill>
                            <a:srgbClr val="1B4332"/>
                          </a:solidFill>
                          <a:latin typeface="Calibri"/>
                          <a:ea typeface="Calibri"/>
                          <a:cs typeface="Calibri"/>
                        </a:rPr>
                        <a:t> ✓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100 Ko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 g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Vinted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~3,2 Mo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F (15)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2,7 g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Geev</a:t>
                      </a:r>
                      <a:endParaRPr lang="en-US" sz="1200" dirty="0" err="1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~3,8 Mo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D (42)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2,1 g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4846320" y="32918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principal : Geev</a:t>
            </a:r>
            <a:endParaRPr lang="en-US" sz="1100"/>
          </a:p>
        </p:txBody>
      </p:sp>
      <p:sp>
        <p:nvSpPr>
          <p:cNvPr id="15" name="Text 12"/>
          <p:cNvSpPr/>
          <p:nvPr/>
        </p:nvSpPr>
        <p:spPr>
          <a:xfrm>
            <a:off x="4846320" y="3566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faire un site 100× plus léger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Profils d'utilisateurs</a:t>
            </a:r>
            <a:endParaRPr lang="en-US" sz="220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743200" cy="3931920"/>
          </a:xfrm>
          <a:prstGeom prst="rect">
            <a:avLst/>
          </a:prstGeom>
          <a:solidFill>
            <a:srgbClr val="D8F3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743200" cy="4572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65760" y="85039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Visiteur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Peut :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411480" y="164592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les annonces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compte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</a:t>
            </a:r>
            <a:endParaRPr lang="en-US" sz="1000"/>
          </a:p>
        </p:txBody>
      </p:sp>
      <p:sp>
        <p:nvSpPr>
          <p:cNvPr id="9" name="Text 7"/>
          <p:cNvSpPr/>
          <p:nvPr/>
        </p:nvSpPr>
        <p:spPr>
          <a:xfrm>
            <a:off x="411480" y="3063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Ne peut pas :</a:t>
            </a:r>
            <a:endParaRPr lang="en-US" sz="1100"/>
          </a:p>
        </p:txBody>
      </p:sp>
      <p:sp>
        <p:nvSpPr>
          <p:cNvPr id="10" name="Text 8"/>
          <p:cNvSpPr/>
          <p:nvPr/>
        </p:nvSpPr>
        <p:spPr>
          <a:xfrm>
            <a:off x="411480" y="33375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Déposer une annonce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son profil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aux pages protégées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200400" y="822960"/>
            <a:ext cx="2743200" cy="3931920"/>
          </a:xfrm>
          <a:prstGeom prst="rect">
            <a:avLst/>
          </a:prstGeom>
          <a:solidFill>
            <a:srgbClr val="D8F3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200400" y="822960"/>
            <a:ext cx="2743200" cy="4572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291840" y="85039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connecté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3337560" y="1371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Peut :</a:t>
            </a:r>
            <a:endParaRPr lang="en-US" sz="1100"/>
          </a:p>
        </p:txBody>
      </p:sp>
      <p:sp>
        <p:nvSpPr>
          <p:cNvPr id="15" name="Text 13"/>
          <p:cNvSpPr/>
          <p:nvPr/>
        </p:nvSpPr>
        <p:spPr>
          <a:xfrm>
            <a:off x="3337560" y="164592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du visiteur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Déposer une annonce (titre, catégorie, état, type)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/ supprimer SES annonces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 son profil, supprimer son compte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3337560" y="3063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Ne peut pas :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3337560" y="33375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les annonces des autres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 panneau admin</a:t>
            </a:r>
            <a:endParaRPr lang="en-US" sz="1000"/>
          </a:p>
        </p:txBody>
      </p:sp>
      <p:sp>
        <p:nvSpPr>
          <p:cNvPr id="18" name="Shape 16"/>
          <p:cNvSpPr/>
          <p:nvPr/>
        </p:nvSpPr>
        <p:spPr>
          <a:xfrm>
            <a:off x="6126480" y="822960"/>
            <a:ext cx="2743200" cy="3931920"/>
          </a:xfrm>
          <a:prstGeom prst="rect">
            <a:avLst/>
          </a:prstGeom>
          <a:solidFill>
            <a:srgbClr val="D8F3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126480" y="822960"/>
            <a:ext cx="2743200" cy="4572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217920" y="85039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</a:t>
            </a:r>
            <a:endParaRPr lang="en-US" sz="1300"/>
          </a:p>
        </p:txBody>
      </p:sp>
      <p:sp>
        <p:nvSpPr>
          <p:cNvPr id="21" name="Text 19"/>
          <p:cNvSpPr/>
          <p:nvPr/>
        </p:nvSpPr>
        <p:spPr>
          <a:xfrm>
            <a:off x="6263640" y="1371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Peut :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6263640" y="164592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de l'utilisateur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 TOUS les comptes (CRUD)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 TOUTES les annonces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stats</a:t>
            </a:r>
            <a:endParaRPr lang="en-US" sz="1000"/>
          </a:p>
        </p:txBody>
      </p:sp>
      <p:sp>
        <p:nvSpPr>
          <p:cNvPr id="23" name="Text 21"/>
          <p:cNvSpPr/>
          <p:nvPr/>
        </p:nvSpPr>
        <p:spPr>
          <a:xfrm>
            <a:off x="6263640" y="3063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Ne peut pas :</a:t>
            </a:r>
            <a:endParaRPr lang="en-US" sz="1100"/>
          </a:p>
        </p:txBody>
      </p:sp>
      <p:sp>
        <p:nvSpPr>
          <p:cNvPr id="24" name="Text 22"/>
          <p:cNvSpPr/>
          <p:nvPr/>
        </p:nvSpPr>
        <p:spPr>
          <a:xfrm>
            <a:off x="6263640" y="33375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Supprimer son propre compte admin (sécurité)</a:t>
            </a:r>
            <a:endParaRPr lang="en-US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Priorisation MoSCoW</a:t>
            </a:r>
            <a:endParaRPr lang="en-US" sz="22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65760" y="1024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/ Connexion / Déconnexion</a:t>
            </a:r>
            <a:endParaRPr lang="en-US" sz="1100"/>
          </a:p>
        </p:txBody>
      </p:sp>
      <p:sp>
        <p:nvSpPr>
          <p:cNvPr id="8" name="Shape 6"/>
          <p:cNvSpPr/>
          <p:nvPr/>
        </p:nvSpPr>
        <p:spPr>
          <a:xfrm>
            <a:off x="3749040" y="1005840"/>
            <a:ext cx="658368" cy="32004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749040" y="1005840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700"/>
          </a:p>
        </p:txBody>
      </p:sp>
      <p:sp>
        <p:nvSpPr>
          <p:cNvPr id="10" name="Shape 8"/>
          <p:cNvSpPr/>
          <p:nvPr/>
        </p:nvSpPr>
        <p:spPr>
          <a:xfrm>
            <a:off x="274320" y="1645920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65760" y="1801368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5760" y="1801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/>
          </a:p>
        </p:txBody>
      </p:sp>
      <p:sp>
        <p:nvSpPr>
          <p:cNvPr id="13" name="Text 11"/>
          <p:cNvSpPr/>
          <p:nvPr/>
        </p:nvSpPr>
        <p:spPr>
          <a:xfrm>
            <a:off x="822960" y="16916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une annonce (titre, desc., catégorie, état, type troc/points)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3749040" y="1783080"/>
            <a:ext cx="658368" cy="32004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749040" y="1783080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700"/>
          </a:p>
        </p:txBody>
      </p:sp>
      <p:sp>
        <p:nvSpPr>
          <p:cNvPr id="16" name="Shape 14"/>
          <p:cNvSpPr/>
          <p:nvPr/>
        </p:nvSpPr>
        <p:spPr>
          <a:xfrm>
            <a:off x="274320" y="2423160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365760" y="2578608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65760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822960" y="24688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la liste des annonces</a:t>
            </a:r>
            <a:endParaRPr lang="en-US" sz="1100"/>
          </a:p>
        </p:txBody>
      </p:sp>
      <p:sp>
        <p:nvSpPr>
          <p:cNvPr id="20" name="Shape 18"/>
          <p:cNvSpPr/>
          <p:nvPr/>
        </p:nvSpPr>
        <p:spPr>
          <a:xfrm>
            <a:off x="3749040" y="2560320"/>
            <a:ext cx="658368" cy="32004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749040" y="2560320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700"/>
          </a:p>
        </p:txBody>
      </p:sp>
      <p:sp>
        <p:nvSpPr>
          <p:cNvPr id="22" name="Shape 20"/>
          <p:cNvSpPr/>
          <p:nvPr/>
        </p:nvSpPr>
        <p:spPr>
          <a:xfrm>
            <a:off x="274320" y="3200400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365760" y="3355848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65760" y="3355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/>
          </a:p>
        </p:txBody>
      </p:sp>
      <p:sp>
        <p:nvSpPr>
          <p:cNvPr id="25" name="Text 23"/>
          <p:cNvSpPr/>
          <p:nvPr/>
        </p:nvSpPr>
        <p:spPr>
          <a:xfrm>
            <a:off x="822960" y="32461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Supprimer sa propre annonce</a:t>
            </a:r>
            <a:endParaRPr lang="en-US" sz="1100"/>
          </a:p>
        </p:txBody>
      </p:sp>
      <p:sp>
        <p:nvSpPr>
          <p:cNvPr id="26" name="Shape 24"/>
          <p:cNvSpPr/>
          <p:nvPr/>
        </p:nvSpPr>
        <p:spPr>
          <a:xfrm>
            <a:off x="3749040" y="3337560"/>
            <a:ext cx="658368" cy="32004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3749040" y="3337560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700"/>
          </a:p>
        </p:txBody>
      </p:sp>
      <p:sp>
        <p:nvSpPr>
          <p:cNvPr id="29" name="Shape 27"/>
          <p:cNvSpPr/>
          <p:nvPr/>
        </p:nvSpPr>
        <p:spPr>
          <a:xfrm>
            <a:off x="365760" y="4133088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65760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/>
          </a:p>
        </p:txBody>
      </p:sp>
      <p:sp>
        <p:nvSpPr>
          <p:cNvPr id="31" name="Text 29"/>
          <p:cNvSpPr/>
          <p:nvPr/>
        </p:nvSpPr>
        <p:spPr>
          <a:xfrm>
            <a:off x="822960" y="40233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d'échanges (troc + points)</a:t>
            </a:r>
            <a:endParaRPr lang="en-US" sz="1100"/>
          </a:p>
        </p:txBody>
      </p:sp>
      <p:sp>
        <p:nvSpPr>
          <p:cNvPr id="32" name="Shape 30"/>
          <p:cNvSpPr/>
          <p:nvPr/>
        </p:nvSpPr>
        <p:spPr>
          <a:xfrm>
            <a:off x="3749040" y="4114800"/>
            <a:ext cx="658368" cy="32004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3749040" y="4114800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700"/>
          </a:p>
        </p:txBody>
      </p:sp>
      <p:sp>
        <p:nvSpPr>
          <p:cNvPr id="34" name="Shape 32"/>
          <p:cNvSpPr/>
          <p:nvPr/>
        </p:nvSpPr>
        <p:spPr>
          <a:xfrm>
            <a:off x="4754880" y="868680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4846320" y="1024128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4846320" y="1024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/>
          </a:p>
        </p:txBody>
      </p:sp>
      <p:sp>
        <p:nvSpPr>
          <p:cNvPr id="37" name="Text 35"/>
          <p:cNvSpPr/>
          <p:nvPr/>
        </p:nvSpPr>
        <p:spPr>
          <a:xfrm>
            <a:off x="5303520" y="91440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son profil utilisateur</a:t>
            </a:r>
            <a:endParaRPr lang="en-US" sz="1100"/>
          </a:p>
        </p:txBody>
      </p:sp>
      <p:sp>
        <p:nvSpPr>
          <p:cNvPr id="38" name="Shape 36"/>
          <p:cNvSpPr/>
          <p:nvPr/>
        </p:nvSpPr>
        <p:spPr>
          <a:xfrm>
            <a:off x="8229600" y="1005840"/>
            <a:ext cx="658368" cy="32004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8229600" y="1005840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700"/>
          </a:p>
        </p:txBody>
      </p:sp>
      <p:sp>
        <p:nvSpPr>
          <p:cNvPr id="40" name="Shape 38"/>
          <p:cNvSpPr/>
          <p:nvPr/>
        </p:nvSpPr>
        <p:spPr>
          <a:xfrm>
            <a:off x="4754880" y="1645920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4846320" y="1801368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4846320" y="1801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/>
          </a:p>
        </p:txBody>
      </p:sp>
      <p:sp>
        <p:nvSpPr>
          <p:cNvPr id="43" name="Text 41"/>
          <p:cNvSpPr/>
          <p:nvPr/>
        </p:nvSpPr>
        <p:spPr>
          <a:xfrm>
            <a:off x="5303520" y="16916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 les annonces par catégorie</a:t>
            </a:r>
            <a:endParaRPr lang="en-US" sz="1100"/>
          </a:p>
        </p:txBody>
      </p:sp>
      <p:sp>
        <p:nvSpPr>
          <p:cNvPr id="44" name="Shape 42"/>
          <p:cNvSpPr/>
          <p:nvPr/>
        </p:nvSpPr>
        <p:spPr>
          <a:xfrm>
            <a:off x="8229600" y="1783080"/>
            <a:ext cx="658368" cy="32004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8229600" y="1783080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700"/>
          </a:p>
        </p:txBody>
      </p:sp>
      <p:sp>
        <p:nvSpPr>
          <p:cNvPr id="46" name="Shape 44"/>
          <p:cNvSpPr/>
          <p:nvPr/>
        </p:nvSpPr>
        <p:spPr>
          <a:xfrm>
            <a:off x="1534400" y="4902234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4846320" y="2578608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4846320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/>
          </a:p>
        </p:txBody>
      </p:sp>
      <p:sp>
        <p:nvSpPr>
          <p:cNvPr id="49" name="Text 47"/>
          <p:cNvSpPr/>
          <p:nvPr/>
        </p:nvSpPr>
        <p:spPr>
          <a:xfrm>
            <a:off x="5303520" y="24688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de photo de l'objet</a:t>
            </a:r>
            <a:endParaRPr lang="en-US" sz="1100"/>
          </a:p>
        </p:txBody>
      </p:sp>
      <p:sp>
        <p:nvSpPr>
          <p:cNvPr id="50" name="Shape 48"/>
          <p:cNvSpPr/>
          <p:nvPr/>
        </p:nvSpPr>
        <p:spPr>
          <a:xfrm>
            <a:off x="8229600" y="2560320"/>
            <a:ext cx="658368" cy="32004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1" name="Text 49"/>
          <p:cNvSpPr/>
          <p:nvPr/>
        </p:nvSpPr>
        <p:spPr>
          <a:xfrm>
            <a:off x="8229600" y="2560320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700"/>
          </a:p>
        </p:txBody>
      </p:sp>
      <p:sp>
        <p:nvSpPr>
          <p:cNvPr id="52" name="Shape 50"/>
          <p:cNvSpPr/>
          <p:nvPr/>
        </p:nvSpPr>
        <p:spPr>
          <a:xfrm>
            <a:off x="4754880" y="3200400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5" name="Text 53"/>
          <p:cNvSpPr/>
          <p:nvPr/>
        </p:nvSpPr>
        <p:spPr>
          <a:xfrm>
            <a:off x="5303520" y="3246120"/>
            <a:ext cx="292608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Messagerie</a:t>
            </a:r>
            <a:r>
              <a:rPr lang="en-US" sz="11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quand</a:t>
            </a:r>
            <a:r>
              <a:rPr lang="en-US" sz="11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un </a:t>
            </a:r>
            <a:r>
              <a:rPr lang="en-US" sz="11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échange</a:t>
            </a:r>
            <a:r>
              <a:rPr lang="en-US" sz="11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est </a:t>
            </a:r>
            <a:r>
              <a:rPr lang="en-US" sz="11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ini</a:t>
            </a:r>
            <a:r>
              <a:rPr lang="en-US" sz="11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tié</a:t>
            </a:r>
          </a:p>
        </p:txBody>
      </p:sp>
      <p:sp>
        <p:nvSpPr>
          <p:cNvPr id="58" name="Shape 56"/>
          <p:cNvSpPr/>
          <p:nvPr/>
        </p:nvSpPr>
        <p:spPr>
          <a:xfrm>
            <a:off x="4754880" y="3977640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9" name="Shape 57"/>
          <p:cNvSpPr/>
          <p:nvPr/>
        </p:nvSpPr>
        <p:spPr>
          <a:xfrm>
            <a:off x="4846320" y="4133088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0" name="Text 58"/>
          <p:cNvSpPr/>
          <p:nvPr/>
        </p:nvSpPr>
        <p:spPr>
          <a:xfrm>
            <a:off x="4846320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000"/>
          </a:p>
        </p:txBody>
      </p:sp>
      <p:sp>
        <p:nvSpPr>
          <p:cNvPr id="61" name="Text 59"/>
          <p:cNvSpPr/>
          <p:nvPr/>
        </p:nvSpPr>
        <p:spPr>
          <a:xfrm>
            <a:off x="5303520" y="40233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push</a:t>
            </a:r>
            <a:endParaRPr lang="en-US" sz="1100"/>
          </a:p>
        </p:txBody>
      </p:sp>
      <p:sp>
        <p:nvSpPr>
          <p:cNvPr id="62" name="Shape 60"/>
          <p:cNvSpPr/>
          <p:nvPr/>
        </p:nvSpPr>
        <p:spPr>
          <a:xfrm>
            <a:off x="8229600" y="4114800"/>
            <a:ext cx="658368" cy="320040"/>
          </a:xfrm>
          <a:prstGeom prst="rect">
            <a:avLst/>
          </a:prstGeom>
          <a:solidFill>
            <a:srgbClr val="6C757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3" name="Text 61"/>
          <p:cNvSpPr/>
          <p:nvPr/>
        </p:nvSpPr>
        <p:spPr>
          <a:xfrm>
            <a:off x="8229600" y="4114800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V1</a:t>
            </a:r>
            <a:endParaRPr lang="en-US" sz="700"/>
          </a:p>
        </p:txBody>
      </p:sp>
      <p:sp>
        <p:nvSpPr>
          <p:cNvPr id="67" name="Shape 27">
            <a:extLst>
              <a:ext uri="{FF2B5EF4-FFF2-40B4-BE49-F238E27FC236}">
                <a16:creationId xmlns:a16="http://schemas.microsoft.com/office/drawing/2014/main" id="{608EC588-7A0F-CE73-3486-C9107395E4A3}"/>
              </a:ext>
            </a:extLst>
          </p:cNvPr>
          <p:cNvSpPr/>
          <p:nvPr/>
        </p:nvSpPr>
        <p:spPr>
          <a:xfrm>
            <a:off x="4837361" y="3322175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8" name="Text 28">
            <a:extLst>
              <a:ext uri="{FF2B5EF4-FFF2-40B4-BE49-F238E27FC236}">
                <a16:creationId xmlns:a16="http://schemas.microsoft.com/office/drawing/2014/main" id="{AE0E54B5-A72B-E577-6141-0BBEF70A8E6D}"/>
              </a:ext>
            </a:extLst>
          </p:cNvPr>
          <p:cNvSpPr/>
          <p:nvPr/>
        </p:nvSpPr>
        <p:spPr>
          <a:xfrm>
            <a:off x="4837361" y="332217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/>
          </a:p>
        </p:txBody>
      </p:sp>
      <p:sp>
        <p:nvSpPr>
          <p:cNvPr id="69" name="Shape 48">
            <a:extLst>
              <a:ext uri="{FF2B5EF4-FFF2-40B4-BE49-F238E27FC236}">
                <a16:creationId xmlns:a16="http://schemas.microsoft.com/office/drawing/2014/main" id="{F790E02C-84B0-BB96-7018-F473E6E5E93A}"/>
              </a:ext>
            </a:extLst>
          </p:cNvPr>
          <p:cNvSpPr/>
          <p:nvPr/>
        </p:nvSpPr>
        <p:spPr>
          <a:xfrm>
            <a:off x="8214154" y="3286279"/>
            <a:ext cx="658368" cy="32004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0" name="Text 49">
            <a:extLst>
              <a:ext uri="{FF2B5EF4-FFF2-40B4-BE49-F238E27FC236}">
                <a16:creationId xmlns:a16="http://schemas.microsoft.com/office/drawing/2014/main" id="{D524DA94-A029-6BEE-0B60-0AAE9F5D9C32}"/>
              </a:ext>
            </a:extLst>
          </p:cNvPr>
          <p:cNvSpPr/>
          <p:nvPr/>
        </p:nvSpPr>
        <p:spPr>
          <a:xfrm>
            <a:off x="8214154" y="3286279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7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</a:t>
            </a:r>
            <a:r>
              <a:rPr lang="en-US" sz="2200" b="1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</a:t>
            </a: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d’utilisation</a:t>
            </a: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200"/>
          </a:p>
        </p:txBody>
      </p:sp>
      <p:sp>
        <p:nvSpPr>
          <p:cNvPr id="5" name="Text 3"/>
          <p:cNvSpPr/>
          <p:nvPr/>
        </p:nvSpPr>
        <p:spPr>
          <a:xfrm>
            <a:off x="365760" y="8778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300"/>
          </a:p>
        </p:txBody>
      </p:sp>
      <p:sp>
        <p:nvSpPr>
          <p:cNvPr id="12" name="Shape 10"/>
          <p:cNvSpPr/>
          <p:nvPr/>
        </p:nvSpPr>
        <p:spPr>
          <a:xfrm>
            <a:off x="274320" y="2167128"/>
            <a:ext cx="2834640" cy="320040"/>
          </a:xfrm>
          <a:prstGeom prst="rect">
            <a:avLst/>
          </a:prstGeom>
          <a:solidFill>
            <a:srgbClr val="F8FA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3383280" y="3447288"/>
            <a:ext cx="2834640" cy="320040"/>
          </a:xfrm>
          <a:prstGeom prst="rect">
            <a:avLst/>
          </a:prstGeom>
          <a:solidFill>
            <a:srgbClr val="F8FA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6583680" y="8778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exchanges</a:t>
            </a:r>
            <a:endParaRPr lang="en-US" sz="1300"/>
          </a:p>
        </p:txBody>
      </p:sp>
      <p:pic>
        <p:nvPicPr>
          <p:cNvPr id="62" name="Image 61">
            <a:extLst>
              <a:ext uri="{FF2B5EF4-FFF2-40B4-BE49-F238E27FC236}">
                <a16:creationId xmlns:a16="http://schemas.microsoft.com/office/drawing/2014/main" id="{A2B809CB-7576-E2F7-8B76-A5D5426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410" y="808434"/>
            <a:ext cx="1708219" cy="3695797"/>
          </a:xfrm>
          <a:prstGeom prst="rect">
            <a:avLst/>
          </a:prstGeom>
        </p:spPr>
      </p:pic>
      <p:sp>
        <p:nvSpPr>
          <p:cNvPr id="63" name="Text 2">
            <a:extLst>
              <a:ext uri="{FF2B5EF4-FFF2-40B4-BE49-F238E27FC236}">
                <a16:creationId xmlns:a16="http://schemas.microsoft.com/office/drawing/2014/main" id="{F56CC5E5-3AE9-5681-9C3D-328DBF30BC6B}"/>
              </a:ext>
            </a:extLst>
          </p:cNvPr>
          <p:cNvSpPr/>
          <p:nvPr/>
        </p:nvSpPr>
        <p:spPr>
          <a:xfrm>
            <a:off x="4650378" y="1174337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b="1" noProof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Acteur identifié</a:t>
            </a:r>
            <a:endParaRPr lang="fr-FR" sz="1400" noProof="0"/>
          </a:p>
        </p:txBody>
      </p:sp>
      <p:sp>
        <p:nvSpPr>
          <p:cNvPr id="64" name="Text 3">
            <a:extLst>
              <a:ext uri="{FF2B5EF4-FFF2-40B4-BE49-F238E27FC236}">
                <a16:creationId xmlns:a16="http://schemas.microsoft.com/office/drawing/2014/main" id="{B4E28DF1-7737-0149-2610-3E8F448BF70B}"/>
              </a:ext>
            </a:extLst>
          </p:cNvPr>
          <p:cNvSpPr/>
          <p:nvPr/>
        </p:nvSpPr>
        <p:spPr>
          <a:xfrm>
            <a:off x="4650378" y="1152144"/>
            <a:ext cx="2834640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SzPct val="100000"/>
              <a:buChar char="•"/>
            </a:pPr>
            <a:r>
              <a:rPr lang="fr-FR" sz="1200" noProof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fr-FR" sz="1200" noProof="0"/>
          </a:p>
        </p:txBody>
      </p:sp>
      <p:sp>
        <p:nvSpPr>
          <p:cNvPr id="65" name="Text 4">
            <a:extLst>
              <a:ext uri="{FF2B5EF4-FFF2-40B4-BE49-F238E27FC236}">
                <a16:creationId xmlns:a16="http://schemas.microsoft.com/office/drawing/2014/main" id="{D330EE2A-887A-03BB-3922-A7143EDD636A}"/>
              </a:ext>
            </a:extLst>
          </p:cNvPr>
          <p:cNvSpPr/>
          <p:nvPr/>
        </p:nvSpPr>
        <p:spPr>
          <a:xfrm>
            <a:off x="4603150" y="1936955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b="1" noProof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cas d'utilisation</a:t>
            </a:r>
            <a:endParaRPr lang="fr-FR" sz="1400" noProof="0"/>
          </a:p>
        </p:txBody>
      </p:sp>
      <p:sp>
        <p:nvSpPr>
          <p:cNvPr id="66" name="Text 5">
            <a:extLst>
              <a:ext uri="{FF2B5EF4-FFF2-40B4-BE49-F238E27FC236}">
                <a16:creationId xmlns:a16="http://schemas.microsoft.com/office/drawing/2014/main" id="{64044639-478D-7313-ED7A-3EEAD282F8BA}"/>
              </a:ext>
            </a:extLst>
          </p:cNvPr>
          <p:cNvSpPr/>
          <p:nvPr/>
        </p:nvSpPr>
        <p:spPr>
          <a:xfrm>
            <a:off x="4603149" y="2070305"/>
            <a:ext cx="3566161" cy="2011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SzPct val="100000"/>
              <a:buChar char="•"/>
            </a:pPr>
            <a:r>
              <a:rPr lang="fr-FR" sz="1100" noProof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/ Supprimer un compte / S’inscrire</a:t>
            </a:r>
            <a:endParaRPr lang="fr-FR" sz="1100" noProof="0"/>
          </a:p>
          <a:p>
            <a:pPr marL="342900" indent="-342900">
              <a:buSzPct val="100000"/>
              <a:buChar char="•"/>
            </a:pPr>
            <a:r>
              <a:rPr lang="fr-FR" sz="1100" noProof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les annonces et le détail</a:t>
            </a:r>
            <a:endParaRPr lang="fr-FR" sz="1100" noProof="0"/>
          </a:p>
          <a:p>
            <a:pPr marL="342900" indent="-342900">
              <a:buSzPct val="100000"/>
              <a:buChar char="•"/>
            </a:pPr>
            <a:r>
              <a:rPr lang="fr-FR" sz="1100" noProof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une annonce</a:t>
            </a:r>
            <a:endParaRPr lang="fr-FR" sz="1100" noProof="0"/>
          </a:p>
          <a:p>
            <a:pPr marL="342900" indent="-342900">
              <a:buSzPct val="100000"/>
              <a:buChar char="•"/>
            </a:pPr>
            <a:r>
              <a:rPr lang="fr-FR" sz="1100" noProof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Supprimer sa propre annonce</a:t>
            </a:r>
          </a:p>
          <a:p>
            <a:pPr marL="342900" indent="-342900">
              <a:buSzPct val="100000"/>
              <a:buChar char="•"/>
            </a:pPr>
            <a:r>
              <a:rPr lang="fr-FR" sz="110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son annonce</a:t>
            </a:r>
            <a:endParaRPr lang="fr-FR" sz="1100" noProof="0"/>
          </a:p>
          <a:p>
            <a:pPr marL="342900" indent="-342900">
              <a:buSzPct val="100000"/>
              <a:buChar char="•"/>
            </a:pPr>
            <a:r>
              <a:rPr lang="fr-FR" sz="1100" noProof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son profil</a:t>
            </a:r>
          </a:p>
          <a:p>
            <a:pPr marL="342900" indent="-342900">
              <a:buSzPct val="100000"/>
              <a:buChar char="•"/>
            </a:pPr>
            <a:r>
              <a:rPr lang="fr-FR" sz="110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 les annonces</a:t>
            </a:r>
          </a:p>
          <a:p>
            <a:pPr marL="342900" indent="-342900">
              <a:buSzPct val="100000"/>
              <a:buChar char="•"/>
            </a:pPr>
            <a:r>
              <a:rPr lang="fr-FR" sz="110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son profil</a:t>
            </a:r>
            <a:endParaRPr lang="fr-FR" sz="1100" noProof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AE1899-96CF-A9D0-F037-27D0D9AF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E70A278-EDC6-23AC-49C3-83F13600E752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AB56E5-3C37-168E-47F3-6D0FD9A81E51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classes</a:t>
            </a:r>
            <a:endParaRPr lang="en-US" sz="22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1C97F47-34C7-0090-19D9-F897B92AD776}"/>
              </a:ext>
            </a:extLst>
          </p:cNvPr>
          <p:cNvSpPr/>
          <p:nvPr/>
        </p:nvSpPr>
        <p:spPr>
          <a:xfrm>
            <a:off x="365760" y="8778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3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CBF698BA-D4DC-0E49-A467-25448EEA4E09}"/>
              </a:ext>
            </a:extLst>
          </p:cNvPr>
          <p:cNvSpPr/>
          <p:nvPr/>
        </p:nvSpPr>
        <p:spPr>
          <a:xfrm>
            <a:off x="274320" y="2167128"/>
            <a:ext cx="2834640" cy="320040"/>
          </a:xfrm>
          <a:prstGeom prst="rect">
            <a:avLst/>
          </a:prstGeom>
          <a:solidFill>
            <a:srgbClr val="F8FA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9C98BB4F-D13B-5BCD-65AD-A22477944530}"/>
              </a:ext>
            </a:extLst>
          </p:cNvPr>
          <p:cNvSpPr/>
          <p:nvPr/>
        </p:nvSpPr>
        <p:spPr>
          <a:xfrm>
            <a:off x="3383280" y="3447288"/>
            <a:ext cx="2834640" cy="320040"/>
          </a:xfrm>
          <a:prstGeom prst="rect">
            <a:avLst/>
          </a:prstGeom>
          <a:solidFill>
            <a:srgbClr val="F8FA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A1AFF667-48DA-00D4-B6B3-38646BAD3E16}"/>
              </a:ext>
            </a:extLst>
          </p:cNvPr>
          <p:cNvSpPr/>
          <p:nvPr/>
        </p:nvSpPr>
        <p:spPr>
          <a:xfrm>
            <a:off x="6583680" y="8778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exchanges</a:t>
            </a:r>
            <a:endParaRPr lang="en-US" sz="1300"/>
          </a:p>
        </p:txBody>
      </p:sp>
      <p:sp>
        <p:nvSpPr>
          <p:cNvPr id="65" name="Text 4">
            <a:extLst>
              <a:ext uri="{FF2B5EF4-FFF2-40B4-BE49-F238E27FC236}">
                <a16:creationId xmlns:a16="http://schemas.microsoft.com/office/drawing/2014/main" id="{1513C97C-46A8-2BBF-8620-35A4FC8EA55D}"/>
              </a:ext>
            </a:extLst>
          </p:cNvPr>
          <p:cNvSpPr/>
          <p:nvPr/>
        </p:nvSpPr>
        <p:spPr>
          <a:xfrm>
            <a:off x="4603150" y="1936955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b="1" noProof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de conception</a:t>
            </a:r>
            <a:endParaRPr lang="fr-FR" sz="1400" noProof="0"/>
          </a:p>
        </p:txBody>
      </p:sp>
      <p:sp>
        <p:nvSpPr>
          <p:cNvPr id="66" name="Text 5">
            <a:extLst>
              <a:ext uri="{FF2B5EF4-FFF2-40B4-BE49-F238E27FC236}">
                <a16:creationId xmlns:a16="http://schemas.microsoft.com/office/drawing/2014/main" id="{A3C7DEDF-F1BF-E6EF-1278-1AAA13B7D33E}"/>
              </a:ext>
            </a:extLst>
          </p:cNvPr>
          <p:cNvSpPr/>
          <p:nvPr/>
        </p:nvSpPr>
        <p:spPr>
          <a:xfrm>
            <a:off x="4572000" y="1956816"/>
            <a:ext cx="3566161" cy="2011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SzPct val="100000"/>
              <a:buChar char="•"/>
            </a:pPr>
            <a:r>
              <a:rPr lang="fr-FR" sz="1100" noProof="0"/>
              <a:t>3 Tables : User / Exchange / </a:t>
            </a:r>
            <a:r>
              <a:rPr lang="fr-FR" sz="1100" noProof="0" err="1"/>
              <a:t>Announcement</a:t>
            </a:r>
            <a:endParaRPr lang="fr-FR" sz="1100" noProof="0"/>
          </a:p>
          <a:p>
            <a:pPr marL="342900" indent="-342900">
              <a:buSzPct val="100000"/>
              <a:buChar char="•"/>
            </a:pPr>
            <a:r>
              <a:rPr lang="fr-FR" sz="1100"/>
              <a:t>3 Relations</a:t>
            </a:r>
          </a:p>
          <a:p>
            <a:pPr marL="342900" indent="-342900">
              <a:buSzPct val="100000"/>
              <a:buChar char="•"/>
            </a:pPr>
            <a:r>
              <a:rPr lang="fr-FR" sz="1100"/>
              <a:t>ON DELETE CASCADE</a:t>
            </a:r>
          </a:p>
          <a:p>
            <a:pPr marL="342900" indent="-342900">
              <a:buSzPct val="100000"/>
              <a:buChar char="•"/>
            </a:pPr>
            <a:r>
              <a:rPr lang="fr-FR" sz="1100" noProof="0"/>
              <a:t>5 Index explicites</a:t>
            </a:r>
          </a:p>
          <a:p>
            <a:pPr marL="342900" indent="-342900">
              <a:buSzPct val="100000"/>
              <a:buChar char="•"/>
            </a:pPr>
            <a:r>
              <a:rPr lang="fr-FR" sz="1100" noProof="0" err="1"/>
              <a:t>Enum</a:t>
            </a:r>
            <a:r>
              <a:rPr lang="fr-FR" sz="1100" noProof="0"/>
              <a:t> en colon</a:t>
            </a:r>
            <a:r>
              <a:rPr lang="fr-FR" sz="1100"/>
              <a:t>ne (Aucune table séparée)</a:t>
            </a:r>
            <a:endParaRPr lang="fr-FR" sz="1100" noProof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060FBC8-C8D3-6F51-E973-A757E6DF7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264" y="1014984"/>
            <a:ext cx="1679290" cy="3644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923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06E294-E189-FA1F-24C5-A891D1431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F63A72-5507-F0FC-2A8B-00999A2295C5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D08E9E-1464-E75C-DD31-5E564C044B9A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Diagramme</a:t>
            </a: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de Sequence</a:t>
            </a:r>
            <a:endParaRPr lang="en-US" sz="22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648AB4F-18EF-18D2-4BCD-B3D1ABC63D59}"/>
              </a:ext>
            </a:extLst>
          </p:cNvPr>
          <p:cNvSpPr/>
          <p:nvPr/>
        </p:nvSpPr>
        <p:spPr>
          <a:xfrm>
            <a:off x="365760" y="8778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3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B6B510B-DBAD-BEAA-56E0-6FB769D08EAD}"/>
              </a:ext>
            </a:extLst>
          </p:cNvPr>
          <p:cNvSpPr/>
          <p:nvPr/>
        </p:nvSpPr>
        <p:spPr>
          <a:xfrm>
            <a:off x="274320" y="2167128"/>
            <a:ext cx="2834640" cy="320040"/>
          </a:xfrm>
          <a:prstGeom prst="rect">
            <a:avLst/>
          </a:prstGeom>
          <a:solidFill>
            <a:srgbClr val="F8FA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38DB5D0-908C-DC9E-9FEA-EEA5E8E64A58}"/>
              </a:ext>
            </a:extLst>
          </p:cNvPr>
          <p:cNvSpPr/>
          <p:nvPr/>
        </p:nvSpPr>
        <p:spPr>
          <a:xfrm>
            <a:off x="3383280" y="3447288"/>
            <a:ext cx="2834640" cy="320040"/>
          </a:xfrm>
          <a:prstGeom prst="rect">
            <a:avLst/>
          </a:prstGeom>
          <a:solidFill>
            <a:srgbClr val="F8FA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D4B5F92-CCB7-0BA5-DC5A-138199F4F3C1}"/>
              </a:ext>
            </a:extLst>
          </p:cNvPr>
          <p:cNvSpPr/>
          <p:nvPr/>
        </p:nvSpPr>
        <p:spPr>
          <a:xfrm>
            <a:off x="6583680" y="8778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exchanges</a:t>
            </a:r>
            <a:endParaRPr lang="en-US" sz="130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73783DE-3522-0D66-3FE5-166CAC721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4030" y="877824"/>
            <a:ext cx="4927033" cy="3984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209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Technologiques</a:t>
            </a:r>
            <a:endParaRPr lang="en-US" sz="220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658368" cy="100584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143000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5568" y="97840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</a:t>
            </a:r>
            <a:endParaRPr lang="en-US" sz="1200"/>
          </a:p>
        </p:txBody>
      </p:sp>
      <p:sp>
        <p:nvSpPr>
          <p:cNvPr id="8" name="Text 5"/>
          <p:cNvSpPr/>
          <p:nvPr/>
        </p:nvSpPr>
        <p:spPr>
          <a:xfrm>
            <a:off x="1115568" y="1307592"/>
            <a:ext cx="3291840" cy="4114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D6A4F"/>
                </a:solidFill>
                <a:latin typeface="Calibri"/>
                <a:ea typeface="Calibri"/>
                <a:cs typeface="Calibri"/>
              </a:rPr>
              <a:t>HTML5 + CSS3 + JS </a:t>
            </a:r>
            <a:endParaRPr lang="en-US" sz="1300"/>
          </a:p>
        </p:txBody>
      </p:sp>
      <p:sp>
        <p:nvSpPr>
          <p:cNvPr id="9" name="Shape 6"/>
          <p:cNvSpPr/>
          <p:nvPr/>
        </p:nvSpPr>
        <p:spPr>
          <a:xfrm>
            <a:off x="365760" y="205740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365760" y="2057400"/>
            <a:ext cx="658368" cy="100584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2331720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15568" y="216712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</a:t>
            </a:r>
            <a:endParaRPr lang="en-US" sz="1200"/>
          </a:p>
        </p:txBody>
      </p:sp>
      <p:sp>
        <p:nvSpPr>
          <p:cNvPr id="13" name="Text 9"/>
          <p:cNvSpPr/>
          <p:nvPr/>
        </p:nvSpPr>
        <p:spPr>
          <a:xfrm>
            <a:off x="1115568" y="249631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300"/>
          </a:p>
        </p:txBody>
      </p:sp>
      <p:sp>
        <p:nvSpPr>
          <p:cNvPr id="14" name="Shape 10"/>
          <p:cNvSpPr/>
          <p:nvPr/>
        </p:nvSpPr>
        <p:spPr>
          <a:xfrm>
            <a:off x="365760" y="324612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365760" y="3246120"/>
            <a:ext cx="658368" cy="100584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520440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15568" y="335584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200"/>
          </a:p>
        </p:txBody>
      </p:sp>
      <p:sp>
        <p:nvSpPr>
          <p:cNvPr id="18" name="Text 13"/>
          <p:cNvSpPr/>
          <p:nvPr/>
        </p:nvSpPr>
        <p:spPr>
          <a:xfrm>
            <a:off x="1115568" y="368503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Turso (LibSQL / SQLite serverless)</a:t>
            </a:r>
            <a:endParaRPr lang="en-US" sz="1300"/>
          </a:p>
        </p:txBody>
      </p:sp>
      <p:sp>
        <p:nvSpPr>
          <p:cNvPr id="19" name="Shape 14"/>
          <p:cNvSpPr/>
          <p:nvPr/>
        </p:nvSpPr>
        <p:spPr>
          <a:xfrm>
            <a:off x="4846320" y="8686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4846320" y="868680"/>
            <a:ext cx="658368" cy="100584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1143000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96128" y="97840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200"/>
          </a:p>
        </p:txBody>
      </p:sp>
      <p:sp>
        <p:nvSpPr>
          <p:cNvPr id="23" name="Text 17"/>
          <p:cNvSpPr/>
          <p:nvPr/>
        </p:nvSpPr>
        <p:spPr>
          <a:xfrm>
            <a:off x="5596128" y="130759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+ sessions express-session</a:t>
            </a:r>
            <a:endParaRPr lang="en-US" sz="1300"/>
          </a:p>
        </p:txBody>
      </p:sp>
      <p:sp>
        <p:nvSpPr>
          <p:cNvPr id="24" name="Shape 18"/>
          <p:cNvSpPr/>
          <p:nvPr/>
        </p:nvSpPr>
        <p:spPr>
          <a:xfrm>
            <a:off x="4846320" y="205740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19"/>
          <p:cNvSpPr/>
          <p:nvPr/>
        </p:nvSpPr>
        <p:spPr>
          <a:xfrm>
            <a:off x="4846320" y="2057400"/>
            <a:ext cx="658368" cy="100584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048" y="2331720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596128" y="216712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200"/>
          </a:p>
        </p:txBody>
      </p:sp>
      <p:sp>
        <p:nvSpPr>
          <p:cNvPr id="28" name="Text 21"/>
          <p:cNvSpPr/>
          <p:nvPr/>
        </p:nvSpPr>
        <p:spPr>
          <a:xfrm>
            <a:off x="5596128" y="249631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(serverless)</a:t>
            </a:r>
            <a:endParaRPr lang="en-US" sz="1300"/>
          </a:p>
        </p:txBody>
      </p:sp>
      <p:sp>
        <p:nvSpPr>
          <p:cNvPr id="29" name="Shape 22"/>
          <p:cNvSpPr/>
          <p:nvPr/>
        </p:nvSpPr>
        <p:spPr>
          <a:xfrm>
            <a:off x="4846320" y="324612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3"/>
          <p:cNvSpPr/>
          <p:nvPr/>
        </p:nvSpPr>
        <p:spPr>
          <a:xfrm>
            <a:off x="4846320" y="3246120"/>
            <a:ext cx="658368" cy="100584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6048" y="3520440"/>
            <a:ext cx="438912" cy="43891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596128" y="335584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Dépendances</a:t>
            </a:r>
            <a:endParaRPr lang="en-US" sz="1200"/>
          </a:p>
        </p:txBody>
      </p:sp>
      <p:sp>
        <p:nvSpPr>
          <p:cNvPr id="33" name="Text 25"/>
          <p:cNvSpPr/>
          <p:nvPr/>
        </p:nvSpPr>
        <p:spPr>
          <a:xfrm>
            <a:off x="5596128" y="368503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packages prod seulement</a:t>
            </a:r>
            <a:endParaRPr lang="en-US" sz="13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Implémentation — Architecture API REST</a:t>
            </a:r>
            <a:endParaRPr lang="en-US" sz="22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1645920" cy="11430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20040" y="121615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users.js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2057400" y="941832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Inscription, connexion, profil, modification, suppression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2057400" y="1371600"/>
            <a:ext cx="6583680" cy="502920"/>
          </a:xfrm>
          <a:prstGeom prst="rect">
            <a:avLst/>
          </a:prstGeom>
          <a:solidFill>
            <a:srgbClr val="1E2B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148840" y="14173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/register · POST /login · GET /me · PUT /:id · DELETE /:id</a:t>
            </a:r>
            <a:endParaRPr lang="en-US" sz="1000"/>
          </a:p>
        </p:txBody>
      </p:sp>
      <p:sp>
        <p:nvSpPr>
          <p:cNvPr id="10" name="Shape 8"/>
          <p:cNvSpPr/>
          <p:nvPr/>
        </p:nvSpPr>
        <p:spPr>
          <a:xfrm>
            <a:off x="274320" y="2194560"/>
            <a:ext cx="859536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74320" y="2194560"/>
            <a:ext cx="1645920" cy="11430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20040" y="25420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announcements.js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2057400" y="2267712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complet, filtrage catégorie, pagination 20/page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2057400" y="2697480"/>
            <a:ext cx="6583680" cy="502920"/>
          </a:xfrm>
          <a:prstGeom prst="rect">
            <a:avLst/>
          </a:prstGeom>
          <a:solidFill>
            <a:srgbClr val="1E2B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148840" y="2743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 · POST / · PUT /:id · DELETE /:id</a:t>
            </a:r>
            <a:endParaRPr lang="en-US" sz="1000"/>
          </a:p>
        </p:txBody>
      </p:sp>
      <p:sp>
        <p:nvSpPr>
          <p:cNvPr id="16" name="Shape 14"/>
          <p:cNvSpPr/>
          <p:nvPr/>
        </p:nvSpPr>
        <p:spPr>
          <a:xfrm>
            <a:off x="274320" y="3520440"/>
            <a:ext cx="859536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274320" y="3520440"/>
            <a:ext cx="1645920" cy="11430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20040" y="386791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exchanges.js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2057400" y="3593592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 troc ou points, accepter/refuser, historique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2057400" y="4023360"/>
            <a:ext cx="6583680" cy="502920"/>
          </a:xfrm>
          <a:prstGeom prst="rect">
            <a:avLst/>
          </a:prstGeom>
          <a:solidFill>
            <a:srgbClr val="1E2B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2148840" y="40690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 · GET /incoming · PUT /:id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274320" y="4645152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requireAuth middleware sur toutes les routes sensibles  ·  ✓ Requêtes SQL paramétrées (injection SQL impossible)  ·  ✓ Ownership check avant chaque mutation</a:t>
            </a:r>
            <a:endParaRPr lang="en-US" sz="1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— 4 vérifications validées</a:t>
            </a:r>
            <a:endParaRPr lang="en-US" sz="220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47472" y="1033272"/>
            <a:ext cx="438912" cy="43891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47472" y="1033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/>
          </a:p>
        </p:txBody>
      </p:sp>
      <p:sp>
        <p:nvSpPr>
          <p:cNvPr id="7" name="Text 5"/>
          <p:cNvSpPr/>
          <p:nvPr/>
        </p:nvSpPr>
        <p:spPr>
          <a:xfrm>
            <a:off x="914400" y="877824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mot de passe en clair en base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914400" y="1207008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hashs bcrypt commencent par $2b$ — coût de hashage élevé.</a:t>
            </a:r>
            <a:endParaRPr lang="en-US" sz="1000"/>
          </a:p>
        </p:txBody>
      </p:sp>
      <p:sp>
        <p:nvSpPr>
          <p:cNvPr id="9" name="Shape 7"/>
          <p:cNvSpPr/>
          <p:nvPr/>
        </p:nvSpPr>
        <p:spPr>
          <a:xfrm>
            <a:off x="5943600" y="932688"/>
            <a:ext cx="2834640" cy="640080"/>
          </a:xfrm>
          <a:prstGeom prst="rect">
            <a:avLst/>
          </a:prstGeom>
          <a:solidFill>
            <a:srgbClr val="1E2B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6035040" y="98755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bcrypt.hash(password, 12)</a:t>
            </a:r>
            <a:endParaRPr lang="en-US" sz="900"/>
          </a:p>
        </p:txBody>
      </p:sp>
      <p:sp>
        <p:nvSpPr>
          <p:cNvPr id="11" name="Shape 9"/>
          <p:cNvSpPr/>
          <p:nvPr/>
        </p:nvSpPr>
        <p:spPr>
          <a:xfrm>
            <a:off x="274320" y="1828800"/>
            <a:ext cx="8595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47472" y="2039112"/>
            <a:ext cx="438912" cy="43891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47472" y="20391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914400" y="1883664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secret dans le dépôt GitHub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914400" y="2212848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listé dans .gitignore — TURSO_DATABASE_URL, SESSION_SECRET jamais versionnés.</a:t>
            </a:r>
            <a:endParaRPr lang="en-US" sz="1000"/>
          </a:p>
        </p:txBody>
      </p:sp>
      <p:sp>
        <p:nvSpPr>
          <p:cNvPr id="16" name="Shape 14"/>
          <p:cNvSpPr/>
          <p:nvPr/>
        </p:nvSpPr>
        <p:spPr>
          <a:xfrm>
            <a:off x="5943600" y="1938528"/>
            <a:ext cx="2834640" cy="640080"/>
          </a:xfrm>
          <a:prstGeom prst="rect">
            <a:avLst/>
          </a:prstGeom>
          <a:solidFill>
            <a:srgbClr val="1E2B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035040" y="19933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log | grep -i SECRET → (aucun)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8595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347472" y="3044952"/>
            <a:ext cx="438912" cy="43891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47472" y="3044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914400" y="2889504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Injections SQL rejetées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914400" y="3218688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Turso client.execute({ sql, args }) — toutes les valeurs échappées automatiquement.</a:t>
            </a:r>
            <a:endParaRPr lang="en-US" sz="1000"/>
          </a:p>
        </p:txBody>
      </p:sp>
      <p:sp>
        <p:nvSpPr>
          <p:cNvPr id="23" name="Shape 21"/>
          <p:cNvSpPr/>
          <p:nvPr/>
        </p:nvSpPr>
        <p:spPr>
          <a:xfrm>
            <a:off x="5943600" y="2944368"/>
            <a:ext cx="2834640" cy="640080"/>
          </a:xfrm>
          <a:prstGeom prst="rect">
            <a:avLst/>
          </a:prstGeom>
          <a:solidFill>
            <a:srgbClr val="1E2B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6035040" y="299923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sql: 'SELECT * WHERE id = ?', args: [id] }</a:t>
            </a:r>
            <a:endParaRPr lang="en-US" sz="900"/>
          </a:p>
        </p:txBody>
      </p:sp>
      <p:sp>
        <p:nvSpPr>
          <p:cNvPr id="25" name="Shape 23"/>
          <p:cNvSpPr/>
          <p:nvPr/>
        </p:nvSpPr>
        <p:spPr>
          <a:xfrm>
            <a:off x="274320" y="3840480"/>
            <a:ext cx="8595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347472" y="4050792"/>
            <a:ext cx="438912" cy="43891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347472" y="40507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914400" y="3895344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protégées sans session → 401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14400" y="4224528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requireAuth middleware sur toutes les routes POST/PUT/DELETE.</a:t>
            </a:r>
            <a:endParaRPr lang="en-US" sz="1000"/>
          </a:p>
        </p:txBody>
      </p:sp>
      <p:sp>
        <p:nvSpPr>
          <p:cNvPr id="30" name="Shape 28"/>
          <p:cNvSpPr/>
          <p:nvPr/>
        </p:nvSpPr>
        <p:spPr>
          <a:xfrm>
            <a:off x="5943600" y="3950208"/>
            <a:ext cx="2834640" cy="640080"/>
          </a:xfrm>
          <a:prstGeom prst="rect">
            <a:avLst/>
          </a:prstGeom>
          <a:solidFill>
            <a:srgbClr val="1E2B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6035040" y="400507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52B7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/api/announcements (POST) sans session → 401</a:t>
            </a:r>
            <a:endParaRPr lang="en-US" sz="900"/>
          </a:p>
        </p:txBody>
      </p:sp>
      <p:sp>
        <p:nvSpPr>
          <p:cNvPr id="32" name="Text 30"/>
          <p:cNvSpPr/>
          <p:nvPr/>
        </p:nvSpPr>
        <p:spPr>
          <a:xfrm>
            <a:off x="274320" y="477316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Toutes les vérifications validées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Optimisations Green IT concrètes</a:t>
            </a:r>
            <a:endParaRPr lang="en-US" sz="220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02920" cy="1207008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/>
          </a:p>
        </p:txBody>
      </p:sp>
      <p:sp>
        <p:nvSpPr>
          <p:cNvPr id="7" name="Text 5"/>
          <p:cNvSpPr/>
          <p:nvPr/>
        </p:nvSpPr>
        <p:spPr>
          <a:xfrm>
            <a:off x="868680" y="896112"/>
            <a:ext cx="301752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 b="1">
                <a:solidFill>
                  <a:srgbClr val="1B4332"/>
                </a:solidFill>
                <a:latin typeface="Calibri"/>
                <a:ea typeface="Calibri"/>
                <a:cs typeface="Calibri"/>
              </a:rPr>
              <a:t>Compression des images </a:t>
            </a:r>
            <a:r>
              <a:rPr lang="en-US" sz="1200" b="1" err="1">
                <a:solidFill>
                  <a:srgbClr val="1B4332"/>
                </a:solidFill>
                <a:latin typeface="Calibri"/>
                <a:ea typeface="Calibri"/>
                <a:cs typeface="Calibri"/>
              </a:rPr>
              <a:t>utilisateurs</a:t>
            </a:r>
            <a:endParaRPr lang="fr-FR" err="1"/>
          </a:p>
        </p:txBody>
      </p:sp>
      <p:sp>
        <p:nvSpPr>
          <p:cNvPr id="8" name="Shape 6"/>
          <p:cNvSpPr/>
          <p:nvPr/>
        </p:nvSpPr>
        <p:spPr>
          <a:xfrm>
            <a:off x="3840480" y="914400"/>
            <a:ext cx="566928" cy="274320"/>
          </a:xfrm>
          <a:prstGeom prst="rect">
            <a:avLst/>
          </a:prstGeom>
          <a:solidFill>
            <a:srgbClr val="D8F3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840480" y="9144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−140 Ko · −3 req.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868680" y="1261872"/>
            <a:ext cx="352044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Compression des images </a:t>
            </a:r>
            <a:r>
              <a:rPr lang="en-US" sz="1000" err="1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utilisateurs</a:t>
            </a:r>
            <a:r>
              <a:rPr lang="en-US" sz="100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 au format </a:t>
            </a:r>
            <a:r>
              <a:rPr lang="en-US" sz="1000" err="1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WebP</a:t>
            </a:r>
            <a:r>
              <a:rPr lang="en-US" sz="100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,  </a:t>
            </a:r>
            <a:r>
              <a:rPr lang="en-US" sz="1000" err="1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poidinférieur</a:t>
            </a:r>
            <a:r>
              <a:rPr lang="en-US" sz="100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 à 20ko, lazy-loading </a:t>
            </a:r>
            <a:r>
              <a:rPr lang="en-US" sz="1000" err="1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implémenté</a:t>
            </a:r>
            <a:endParaRPr lang="fr-FR" err="1"/>
          </a:p>
        </p:txBody>
      </p:sp>
      <p:sp>
        <p:nvSpPr>
          <p:cNvPr id="11" name="Shape 9"/>
          <p:cNvSpPr/>
          <p:nvPr/>
        </p:nvSpPr>
        <p:spPr>
          <a:xfrm>
            <a:off x="274320" y="2212848"/>
            <a:ext cx="420624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74320" y="2212848"/>
            <a:ext cx="502920" cy="1207008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74320" y="262432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/>
          </a:p>
        </p:txBody>
      </p:sp>
      <p:sp>
        <p:nvSpPr>
          <p:cNvPr id="14" name="Text 12"/>
          <p:cNvSpPr/>
          <p:nvPr/>
        </p:nvSpPr>
        <p:spPr>
          <a:xfrm>
            <a:off x="86868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 b="1" dirty="0">
                <a:solidFill>
                  <a:srgbClr val="1B4332"/>
                </a:solidFill>
                <a:latin typeface="Calibri"/>
                <a:ea typeface="Calibri"/>
                <a:cs typeface="Calibri"/>
              </a:rPr>
              <a:t>JS —  1 framework </a:t>
            </a:r>
            <a:r>
              <a:rPr lang="en-US" sz="1200" b="1" dirty="0" err="1">
                <a:solidFill>
                  <a:srgbClr val="1B4332"/>
                </a:solidFill>
                <a:latin typeface="Calibri"/>
                <a:ea typeface="Calibri"/>
                <a:cs typeface="Calibri"/>
              </a:rPr>
              <a:t>minime</a:t>
            </a:r>
            <a:r>
              <a:rPr lang="en-US" sz="1200" b="1" dirty="0">
                <a:solidFill>
                  <a:srgbClr val="1B4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200" b="1" dirty="0" err="1">
                <a:solidFill>
                  <a:srgbClr val="1B4332"/>
                </a:solidFill>
                <a:latin typeface="Calibri"/>
                <a:ea typeface="Calibri"/>
                <a:cs typeface="Calibri"/>
              </a:rPr>
              <a:t>utilisé</a:t>
            </a:r>
            <a:endParaRPr lang="en-US" sz="1200" b="1" dirty="0">
              <a:solidFill>
                <a:srgbClr val="1B4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840480" y="2304288"/>
            <a:ext cx="566928" cy="274320"/>
          </a:xfrm>
          <a:prstGeom prst="rect">
            <a:avLst/>
          </a:prstGeom>
          <a:solidFill>
            <a:srgbClr val="D8F3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840480" y="230428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−80 Ko</a:t>
            </a:r>
            <a:endParaRPr lang="en-US" sz="750"/>
          </a:p>
        </p:txBody>
      </p:sp>
      <p:sp>
        <p:nvSpPr>
          <p:cNvPr id="17" name="Text 15"/>
          <p:cNvSpPr/>
          <p:nvPr/>
        </p:nvSpPr>
        <p:spPr>
          <a:xfrm>
            <a:off x="868680" y="2651760"/>
            <a:ext cx="352044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err="1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Zéro</a:t>
            </a:r>
            <a:r>
              <a:rPr lang="en-US" sz="100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 React/Vue/Angular. Toute la </a:t>
            </a:r>
            <a:r>
              <a:rPr lang="en-US" sz="1000" err="1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logique</a:t>
            </a:r>
            <a:r>
              <a:rPr lang="en-US" sz="100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err="1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en</a:t>
            </a:r>
            <a:r>
              <a:rPr lang="en-US" sz="100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 JS avec express pour la gestion de session.</a:t>
            </a:r>
            <a:endParaRPr lang="en-US" sz="1000"/>
          </a:p>
        </p:txBody>
      </p:sp>
      <p:sp>
        <p:nvSpPr>
          <p:cNvPr id="18" name="Shape 16"/>
          <p:cNvSpPr/>
          <p:nvPr/>
        </p:nvSpPr>
        <p:spPr>
          <a:xfrm>
            <a:off x="274320" y="3602736"/>
            <a:ext cx="420624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274320" y="3602736"/>
            <a:ext cx="502920" cy="1207008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274320" y="401421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/>
          </a:p>
        </p:txBody>
      </p:sp>
      <p:sp>
        <p:nvSpPr>
          <p:cNvPr id="21" name="Text 19"/>
          <p:cNvSpPr/>
          <p:nvPr/>
        </p:nvSpPr>
        <p:spPr>
          <a:xfrm>
            <a:off x="868680" y="3675888"/>
            <a:ext cx="301752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/>
                <a:ea typeface="Calibri"/>
                <a:cs typeface="Calibri"/>
              </a:rPr>
              <a:t>Pagination LIMIT 4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840480" y="3694176"/>
            <a:ext cx="566928" cy="274320"/>
          </a:xfrm>
          <a:prstGeom prst="rect">
            <a:avLst/>
          </a:prstGeom>
          <a:solidFill>
            <a:srgbClr val="D8F3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3840480" y="36941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constant</a:t>
            </a:r>
            <a:endParaRPr lang="en-US" sz="750"/>
          </a:p>
        </p:txBody>
      </p:sp>
      <p:sp>
        <p:nvSpPr>
          <p:cNvPr id="24" name="Text 22"/>
          <p:cNvSpPr/>
          <p:nvPr/>
        </p:nvSpPr>
        <p:spPr>
          <a:xfrm>
            <a:off x="868680" y="4041648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listes paginées via LIMIT/OFFSET. Requêtes SQL bornées quelle que soit la BDD.</a:t>
            </a:r>
            <a:endParaRPr lang="en-US" sz="1000"/>
          </a:p>
        </p:txBody>
      </p:sp>
      <p:sp>
        <p:nvSpPr>
          <p:cNvPr id="25" name="Shape 23"/>
          <p:cNvSpPr/>
          <p:nvPr/>
        </p:nvSpPr>
        <p:spPr>
          <a:xfrm>
            <a:off x="4754880" y="822960"/>
            <a:ext cx="420624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754880" y="822960"/>
            <a:ext cx="502920" cy="1207008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754880" y="12344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/>
          </a:p>
        </p:txBody>
      </p:sp>
      <p:sp>
        <p:nvSpPr>
          <p:cNvPr id="28" name="Text 26"/>
          <p:cNvSpPr/>
          <p:nvPr/>
        </p:nvSpPr>
        <p:spPr>
          <a:xfrm>
            <a:off x="5349240" y="89611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unique + aucune image décorative</a:t>
            </a:r>
            <a:endParaRPr lang="en-US" sz="1200"/>
          </a:p>
        </p:txBody>
      </p:sp>
      <p:sp>
        <p:nvSpPr>
          <p:cNvPr id="29" name="Shape 27"/>
          <p:cNvSpPr/>
          <p:nvPr/>
        </p:nvSpPr>
        <p:spPr>
          <a:xfrm>
            <a:off x="8321040" y="914400"/>
            <a:ext cx="566928" cy="274320"/>
          </a:xfrm>
          <a:prstGeom prst="rect">
            <a:avLst/>
          </a:prstGeom>
          <a:solidFill>
            <a:srgbClr val="D8F3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8321040" y="9144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req. · −6 Ko</a:t>
            </a:r>
            <a:endParaRPr lang="en-US" sz="750"/>
          </a:p>
        </p:txBody>
      </p:sp>
      <p:sp>
        <p:nvSpPr>
          <p:cNvPr id="31" name="Text 29"/>
          <p:cNvSpPr/>
          <p:nvPr/>
        </p:nvSpPr>
        <p:spPr>
          <a:xfrm>
            <a:off x="5349240" y="1261872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feuille CSS &lt; 8 Ko. Aucun SVG ni image purement décoratif.</a:t>
            </a:r>
            <a:endParaRPr lang="en-US" sz="1000"/>
          </a:p>
        </p:txBody>
      </p:sp>
      <p:sp>
        <p:nvSpPr>
          <p:cNvPr id="32" name="Shape 30"/>
          <p:cNvSpPr/>
          <p:nvPr/>
        </p:nvSpPr>
        <p:spPr>
          <a:xfrm>
            <a:off x="4754880" y="2212848"/>
            <a:ext cx="420624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Shape 31"/>
          <p:cNvSpPr/>
          <p:nvPr/>
        </p:nvSpPr>
        <p:spPr>
          <a:xfrm>
            <a:off x="4754880" y="2212848"/>
            <a:ext cx="502920" cy="1207008"/>
          </a:xfrm>
          <a:prstGeom prst="rect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4754880" y="262432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/>
          </a:p>
        </p:txBody>
      </p:sp>
      <p:sp>
        <p:nvSpPr>
          <p:cNvPr id="35" name="Text 33"/>
          <p:cNvSpPr/>
          <p:nvPr/>
        </p:nvSpPr>
        <p:spPr>
          <a:xfrm>
            <a:off x="5349240" y="22860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BDD ciblés</a:t>
            </a:r>
            <a:endParaRPr lang="en-US" sz="1200"/>
          </a:p>
        </p:txBody>
      </p:sp>
      <p:sp>
        <p:nvSpPr>
          <p:cNvPr id="36" name="Shape 34"/>
          <p:cNvSpPr/>
          <p:nvPr/>
        </p:nvSpPr>
        <p:spPr>
          <a:xfrm>
            <a:off x="8321040" y="2304288"/>
            <a:ext cx="566928" cy="274320"/>
          </a:xfrm>
          <a:prstGeom prst="rect">
            <a:avLst/>
          </a:prstGeom>
          <a:solidFill>
            <a:srgbClr val="D8F3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8321040" y="230428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&lt; 50 ms</a:t>
            </a:r>
            <a:endParaRPr lang="en-US" sz="750"/>
          </a:p>
        </p:txBody>
      </p:sp>
      <p:sp>
        <p:nvSpPr>
          <p:cNvPr id="38" name="Text 36"/>
          <p:cNvSpPr/>
          <p:nvPr/>
        </p:nvSpPr>
        <p:spPr>
          <a:xfrm>
            <a:off x="5349240" y="2651760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explicites sur user_id, is_active, category, email. Performances stables à l'échelle.</a:t>
            </a:r>
            <a:endParaRPr lang="en-US"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après Optimisations — EcoIndex A, Lighthouse 100</a:t>
            </a:r>
            <a:endParaRPr lang="en-US" sz="1900"/>
          </a:p>
        </p:txBody>
      </p:sp>
      <p:pic>
        <p:nvPicPr>
          <p:cNvPr id="4" name="Image 3" descr="Une image contenant texte, capture d’écran, affichage, nombre&#10;&#10;Le contenu généré par l’IA peut être incorrect.">
            <a:extLst>
              <a:ext uri="{FF2B5EF4-FFF2-40B4-BE49-F238E27FC236}">
                <a16:creationId xmlns:a16="http://schemas.microsoft.com/office/drawing/2014/main" id="{0E9CF199-92A7-9B86-769D-5739324A2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924" y="986824"/>
            <a:ext cx="4903027" cy="3381375"/>
          </a:xfrm>
          <a:prstGeom prst="rect">
            <a:avLst/>
          </a:prstGeom>
        </p:spPr>
      </p:pic>
      <p:pic>
        <p:nvPicPr>
          <p:cNvPr id="15" name="Image 14" descr="Une image contenant texte, capture d’écran, logiciel, Système d’exploitation&#10;&#10;Le contenu généré par l’IA peut être incorrect.">
            <a:extLst>
              <a:ext uri="{FF2B5EF4-FFF2-40B4-BE49-F238E27FC236}">
                <a16:creationId xmlns:a16="http://schemas.microsoft.com/office/drawing/2014/main" id="{4B7CED9F-94F5-8AE5-E9E2-C46FFF827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9056" y="777184"/>
            <a:ext cx="5115664" cy="35903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Validation — scénarios validés</a:t>
            </a:r>
            <a:endParaRPr lang="en-US" sz="220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268154"/>
              </p:ext>
            </p:extLst>
          </p:nvPr>
        </p:nvGraphicFramePr>
        <p:xfrm>
          <a:off x="274320" y="777240"/>
          <a:ext cx="8595360" cy="4023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Scénario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 attendu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Créer un utilisateur valide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Enregistré en BDD, redirection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2D6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OK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déjà existant / mal formé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d'erreur côté serveur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2D6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OK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Mots de passe différents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Erreur, pas de création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2D6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OK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Créer une annonce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Annonce en BDD, liste mise à jour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2D6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OK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Proposer un troc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Exchange créé en statut 'pending'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2D6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OK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Proposer via points (insuffisants)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Erreur</a:t>
                      </a:r>
                      <a:r>
                        <a:rPr lang="en-US" sz="10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: points </a:t>
                      </a:r>
                      <a:r>
                        <a:rPr lang="en-US" sz="105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insuffisants</a:t>
                      </a:r>
                      <a:endParaRPr lang="en-US" sz="1050" err="1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2D6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OK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Modifier l'annonce d'autrui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403 Forbidden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2D6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OK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/api/ sans session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Redirection vers la page d'acceuil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2D6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OK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Injection SQL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Erreur générique, BDD intacte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2D6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OK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 + tests manuels — toutes assertions vertes.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</a:t>
            </a:r>
            <a:endParaRPr lang="en-US" sz="400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960120" y="1389888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fonctionnelle déployée sur Vercel</a:t>
            </a:r>
            <a:endParaRPr lang="en-US" sz="1300"/>
          </a:p>
        </p:txBody>
      </p:sp>
      <p:sp>
        <p:nvSpPr>
          <p:cNvPr id="7" name="Shape 5"/>
          <p:cNvSpPr/>
          <p:nvPr/>
        </p:nvSpPr>
        <p:spPr>
          <a:xfrm>
            <a:off x="457200" y="1993392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960120" y="2011680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EcoIndex A · Lighthouse 100 · CO₂ &lt; 0,05 g/visite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57200" y="2615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960120" y="263347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troc + points unique par rapport au besoin</a:t>
            </a:r>
            <a:endParaRPr lang="en-US" sz="1300"/>
          </a:p>
        </p:txBody>
      </p:sp>
      <p:sp>
        <p:nvSpPr>
          <p:cNvPr id="13" name="Shape 11"/>
          <p:cNvSpPr/>
          <p:nvPr/>
        </p:nvSpPr>
        <p:spPr>
          <a:xfrm>
            <a:off x="457200" y="3236976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5720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960120" y="3255264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bcrypt, sessions, SQL paramétré, 403/401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457200" y="3858768"/>
            <a:ext cx="347472" cy="347472"/>
          </a:xfrm>
          <a:prstGeom prst="ellipse">
            <a:avLst/>
          </a:prstGeom>
          <a:solidFill>
            <a:srgbClr val="52B78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57200" y="3858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/>
          </a:p>
        </p:txBody>
      </p:sp>
      <p:sp>
        <p:nvSpPr>
          <p:cNvPr id="18" name="Text 16"/>
          <p:cNvSpPr/>
          <p:nvPr/>
        </p:nvSpPr>
        <p:spPr>
          <a:xfrm>
            <a:off x="960120" y="3877056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propre, API REST documentée, 4 branches clean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457200" y="44348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→  Upload photo WebP · cache HTTP Brotli · Redis search · hébergement 100% renouvelable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7223760" y="1371600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>
                <a:solidFill>
                  <a:srgbClr val="000000"/>
                </a:solidFill>
              </a:rPr>
              <a:t>🌿</a:t>
            </a:r>
            <a:endParaRPr lang="en-US" sz="5600"/>
          </a:p>
        </p:txBody>
      </p:sp>
      <p:sp>
        <p:nvSpPr>
          <p:cNvPr id="21" name="Text 19"/>
          <p:cNvSpPr/>
          <p:nvPr/>
        </p:nvSpPr>
        <p:spPr>
          <a:xfrm>
            <a:off x="6995160" y="26517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eco-troc-cyan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.vercel.app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A2ACF9CB094E4C9A5BD7CFBE9C6BD7" ma:contentTypeVersion="14" ma:contentTypeDescription="Crée un document." ma:contentTypeScope="" ma:versionID="28ee44f5cb8b760dc0256f577e3d5a85">
  <xsd:schema xmlns:xsd="http://www.w3.org/2001/XMLSchema" xmlns:xs="http://www.w3.org/2001/XMLSchema" xmlns:p="http://schemas.microsoft.com/office/2006/metadata/properties" xmlns:ns3="a138035a-eccc-4702-87fa-a58f298a093c" xmlns:ns4="badff574-de26-4936-a2dc-599d3dc7d0b8" targetNamespace="http://schemas.microsoft.com/office/2006/metadata/properties" ma:root="true" ma:fieldsID="9bdc7f11d298519880867474e66ceeb4" ns3:_="" ns4:_="">
    <xsd:import namespace="a138035a-eccc-4702-87fa-a58f298a093c"/>
    <xsd:import namespace="badff574-de26-4936-a2dc-599d3dc7d0b8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38035a-eccc-4702-87fa-a58f298a093c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dff574-de26-4936-a2dc-599d3dc7d0b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138035a-eccc-4702-87fa-a58f298a093c" xsi:nil="true"/>
  </documentManagement>
</p:properties>
</file>

<file path=customXml/itemProps1.xml><?xml version="1.0" encoding="utf-8"?>
<ds:datastoreItem xmlns:ds="http://schemas.openxmlformats.org/officeDocument/2006/customXml" ds:itemID="{AAE25E98-CF4B-401E-9CDD-F66465379E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61047A8-169F-4B39-8A16-57688C998470}">
  <ds:schemaRefs>
    <ds:schemaRef ds:uri="a138035a-eccc-4702-87fa-a58f298a093c"/>
    <ds:schemaRef ds:uri="badff574-de26-4936-a2dc-599d3dc7d0b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60623221-C739-43F0-ABF5-8CB6F2B42C23}">
  <ds:schemaRefs>
    <ds:schemaRef ds:uri="a138035a-eccc-4702-87fa-a58f298a093c"/>
    <ds:schemaRef ds:uri="badff574-de26-4936-a2dc-599d3dc7d0b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Affichage à l'écran (16:9)</PresentationFormat>
  <Slides>16</Slides>
  <Notes>16</Notes>
  <HiddenSlides>0</HiddenSlide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17" baseType="lpstr"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EcoTroc - Soutenance</dc:title>
  <dc:subject>PptxGenJS Presentation</dc:subject>
  <dc:creator>PptxGenJS</dc:creator>
  <cp:revision>59</cp:revision>
  <dcterms:created xsi:type="dcterms:W3CDTF">2026-05-06T20:22:13Z</dcterms:created>
  <dcterms:modified xsi:type="dcterms:W3CDTF">2026-05-07T10:14:59Z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7e7dfc5-2bf4-4a75-8664-2dc4b3bb1d09_Enabled">
    <vt:lpwstr>true</vt:lpwstr>
  </property>
  <property fmtid="{D5CDD505-2E9C-101B-9397-08002B2CF9AE}" pid="3" name="MSIP_Label_47e7dfc5-2bf4-4a75-8664-2dc4b3bb1d09_SetDate">
    <vt:lpwstr>2026-05-06T20:51:40Z</vt:lpwstr>
  </property>
  <property fmtid="{D5CDD505-2E9C-101B-9397-08002B2CF9AE}" pid="4" name="MSIP_Label_47e7dfc5-2bf4-4a75-8664-2dc4b3bb1d09_Method">
    <vt:lpwstr>Standard</vt:lpwstr>
  </property>
  <property fmtid="{D5CDD505-2E9C-101B-9397-08002B2CF9AE}" pid="5" name="MSIP_Label_47e7dfc5-2bf4-4a75-8664-2dc4b3bb1d09_Name">
    <vt:lpwstr>defa4170-0d19-0005-0004-bc88714345d2</vt:lpwstr>
  </property>
  <property fmtid="{D5CDD505-2E9C-101B-9397-08002B2CF9AE}" pid="6" name="MSIP_Label_47e7dfc5-2bf4-4a75-8664-2dc4b3bb1d09_SiteId">
    <vt:lpwstr>413600cf-bd4e-4c7c-8a61-69e73cddf731</vt:lpwstr>
  </property>
  <property fmtid="{D5CDD505-2E9C-101B-9397-08002B2CF9AE}" pid="7" name="MSIP_Label_47e7dfc5-2bf4-4a75-8664-2dc4b3bb1d09_ActionId">
    <vt:lpwstr>0f720f96-9413-4398-a244-632f4284e5c0</vt:lpwstr>
  </property>
  <property fmtid="{D5CDD505-2E9C-101B-9397-08002B2CF9AE}" pid="8" name="MSIP_Label_47e7dfc5-2bf4-4a75-8664-2dc4b3bb1d09_ContentBits">
    <vt:lpwstr>0</vt:lpwstr>
  </property>
  <property fmtid="{D5CDD505-2E9C-101B-9397-08002B2CF9AE}" pid="9" name="MSIP_Label_47e7dfc5-2bf4-4a75-8664-2dc4b3bb1d09_Tag">
    <vt:lpwstr>10, 3, 0, 1</vt:lpwstr>
  </property>
  <property fmtid="{D5CDD505-2E9C-101B-9397-08002B2CF9AE}" pid="10" name="ContentTypeId">
    <vt:lpwstr>0x010100C1A2ACF9CB094E4C9A5BD7CFBE9C6BD7</vt:lpwstr>
  </property>
</Properties>
</file>